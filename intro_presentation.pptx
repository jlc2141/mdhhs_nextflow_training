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85" r:id="rId4"/>
    <p:sldId id="1047" r:id="rId5"/>
    <p:sldId id="1038" r:id="rId6"/>
    <p:sldId id="1048" r:id="rId7"/>
    <p:sldId id="1045" r:id="rId8"/>
    <p:sldId id="262" r:id="rId9"/>
    <p:sldId id="289" r:id="rId10"/>
    <p:sldId id="1075" r:id="rId11"/>
    <p:sldId id="1044" r:id="rId12"/>
    <p:sldId id="1046" r:id="rId13"/>
    <p:sldId id="10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dkowski, John (DHHS-Contractor)" userId="d81c4474-91f1-4931-91d7-ebb3e2df7470" providerId="ADAL" clId="{4C712B20-9B05-4CA2-903A-815D2FE0A4C1}"/>
    <pc:docChg chg="undo custSel addSld delSld modSld sldOrd">
      <pc:chgData name="Chodkowski, John (DHHS-Contractor)" userId="d81c4474-91f1-4931-91d7-ebb3e2df7470" providerId="ADAL" clId="{4C712B20-9B05-4CA2-903A-815D2FE0A4C1}" dt="2026-10-02T16:44:53.122" v="1935" actId="20577"/>
      <pc:docMkLst>
        <pc:docMk/>
      </pc:docMkLst>
      <pc:sldChg chg="modSp mod">
        <pc:chgData name="Chodkowski, John (DHHS-Contractor)" userId="d81c4474-91f1-4931-91d7-ebb3e2df7470" providerId="ADAL" clId="{4C712B20-9B05-4CA2-903A-815D2FE0A4C1}" dt="2026-09-29T17:48:16.842" v="1921" actId="20577"/>
        <pc:sldMkLst>
          <pc:docMk/>
          <pc:sldMk cId="4122135122" sldId="258"/>
        </pc:sldMkLst>
        <pc:spChg chg="mod">
          <ac:chgData name="Chodkowski, John (DHHS-Contractor)" userId="d81c4474-91f1-4931-91d7-ebb3e2df7470" providerId="ADAL" clId="{4C712B20-9B05-4CA2-903A-815D2FE0A4C1}" dt="2026-09-29T17:48:16.842" v="1921" actId="20577"/>
          <ac:spMkLst>
            <pc:docMk/>
            <pc:sldMk cId="4122135122" sldId="258"/>
            <ac:spMk id="2" creationId="{8A2A51DF-3E40-A417-03BF-92950AB7D676}"/>
          </ac:spMkLst>
        </pc:spChg>
        <pc:spChg chg="mod">
          <ac:chgData name="Chodkowski, John (DHHS-Contractor)" userId="d81c4474-91f1-4931-91d7-ebb3e2df7470" providerId="ADAL" clId="{4C712B20-9B05-4CA2-903A-815D2FE0A4C1}" dt="2026-09-29T17:48:13.942" v="1920" actId="1076"/>
          <ac:spMkLst>
            <pc:docMk/>
            <pc:sldMk cId="4122135122" sldId="258"/>
            <ac:spMk id="3" creationId="{6AF09844-DD1B-D4A7-DAC9-2A3C579BB52A}"/>
          </ac:spMkLst>
        </pc:spChg>
      </pc:sldChg>
      <pc:sldChg chg="modSp add mod ord">
        <pc:chgData name="Chodkowski, John (DHHS-Contractor)" userId="d81c4474-91f1-4931-91d7-ebb3e2df7470" providerId="ADAL" clId="{4C712B20-9B05-4CA2-903A-815D2FE0A4C1}" dt="2026-10-02T16:44:53.122" v="1935" actId="20577"/>
        <pc:sldMkLst>
          <pc:docMk/>
          <pc:sldMk cId="1198718248" sldId="289"/>
        </pc:sldMkLst>
        <pc:spChg chg="mod">
          <ac:chgData name="Chodkowski, John (DHHS-Contractor)" userId="d81c4474-91f1-4931-91d7-ebb3e2df7470" providerId="ADAL" clId="{4C712B20-9B05-4CA2-903A-815D2FE0A4C1}" dt="2026-09-29T17:00:24.119" v="1875" actId="20577"/>
          <ac:spMkLst>
            <pc:docMk/>
            <pc:sldMk cId="1198718248" sldId="289"/>
            <ac:spMk id="2" creationId="{BD76D96B-9AD7-6531-4AB9-813510C45DFB}"/>
          </ac:spMkLst>
        </pc:spChg>
        <pc:spChg chg="mod">
          <ac:chgData name="Chodkowski, John (DHHS-Contractor)" userId="d81c4474-91f1-4931-91d7-ebb3e2df7470" providerId="ADAL" clId="{4C712B20-9B05-4CA2-903A-815D2FE0A4C1}" dt="2026-10-02T16:44:53.122" v="1935" actId="20577"/>
          <ac:spMkLst>
            <pc:docMk/>
            <pc:sldMk cId="1198718248" sldId="289"/>
            <ac:spMk id="3" creationId="{6F37C5CA-27D0-C1FD-CEA4-99F520853910}"/>
          </ac:spMkLst>
        </pc:spChg>
      </pc:sldChg>
      <pc:sldChg chg="modSp mod">
        <pc:chgData name="Chodkowski, John (DHHS-Contractor)" userId="d81c4474-91f1-4931-91d7-ebb3e2df7470" providerId="ADAL" clId="{4C712B20-9B05-4CA2-903A-815D2FE0A4C1}" dt="2026-09-28T22:11:45.167" v="1678" actId="1076"/>
        <pc:sldMkLst>
          <pc:docMk/>
          <pc:sldMk cId="1100453792" sldId="1044"/>
        </pc:sldMkLst>
        <pc:spChg chg="mod">
          <ac:chgData name="Chodkowski, John (DHHS-Contractor)" userId="d81c4474-91f1-4931-91d7-ebb3e2df7470" providerId="ADAL" clId="{4C712B20-9B05-4CA2-903A-815D2FE0A4C1}" dt="2026-09-28T22:11:41.803" v="1677" actId="1035"/>
          <ac:spMkLst>
            <pc:docMk/>
            <pc:sldMk cId="1100453792" sldId="1044"/>
            <ac:spMk id="2" creationId="{50D7D7F9-E9D2-1295-5CF7-0B79C575D4F1}"/>
          </ac:spMkLst>
        </pc:spChg>
        <pc:spChg chg="mod">
          <ac:chgData name="Chodkowski, John (DHHS-Contractor)" userId="d81c4474-91f1-4931-91d7-ebb3e2df7470" providerId="ADAL" clId="{4C712B20-9B05-4CA2-903A-815D2FE0A4C1}" dt="2026-09-28T22:11:41.803" v="1677" actId="1035"/>
          <ac:spMkLst>
            <pc:docMk/>
            <pc:sldMk cId="1100453792" sldId="1044"/>
            <ac:spMk id="3" creationId="{A02F30CF-4923-0F96-B111-4050FCEC3EC8}"/>
          </ac:spMkLst>
        </pc:spChg>
        <pc:spChg chg="mod">
          <ac:chgData name="Chodkowski, John (DHHS-Contractor)" userId="d81c4474-91f1-4931-91d7-ebb3e2df7470" providerId="ADAL" clId="{4C712B20-9B05-4CA2-903A-815D2FE0A4C1}" dt="2026-09-28T22:11:45.167" v="1678" actId="1076"/>
          <ac:spMkLst>
            <pc:docMk/>
            <pc:sldMk cId="1100453792" sldId="1044"/>
            <ac:spMk id="6" creationId="{FA0B8CB3-FC21-354E-4AE4-DCF884028A62}"/>
          </ac:spMkLst>
        </pc:spChg>
        <pc:spChg chg="mod">
          <ac:chgData name="Chodkowski, John (DHHS-Contractor)" userId="d81c4474-91f1-4931-91d7-ebb3e2df7470" providerId="ADAL" clId="{4C712B20-9B05-4CA2-903A-815D2FE0A4C1}" dt="2026-09-28T22:11:41.803" v="1677" actId="1035"/>
          <ac:spMkLst>
            <pc:docMk/>
            <pc:sldMk cId="1100453792" sldId="1044"/>
            <ac:spMk id="8" creationId="{D0C9767B-84CE-F242-83D3-37C8AD078080}"/>
          </ac:spMkLst>
        </pc:spChg>
        <pc:picChg chg="mod">
          <ac:chgData name="Chodkowski, John (DHHS-Contractor)" userId="d81c4474-91f1-4931-91d7-ebb3e2df7470" providerId="ADAL" clId="{4C712B20-9B05-4CA2-903A-815D2FE0A4C1}" dt="2026-09-28T22:11:41.803" v="1677" actId="1035"/>
          <ac:picMkLst>
            <pc:docMk/>
            <pc:sldMk cId="1100453792" sldId="1044"/>
            <ac:picMk id="5" creationId="{195B1D0C-7DDF-A133-AC84-7D7BCE37704D}"/>
          </ac:picMkLst>
        </pc:picChg>
      </pc:sldChg>
      <pc:sldChg chg="delSp modSp mod delAnim modAnim">
        <pc:chgData name="Chodkowski, John (DHHS-Contractor)" userId="d81c4474-91f1-4931-91d7-ebb3e2df7470" providerId="ADAL" clId="{4C712B20-9B05-4CA2-903A-815D2FE0A4C1}" dt="2026-09-29T17:38:13.121" v="1880" actId="1076"/>
        <pc:sldMkLst>
          <pc:docMk/>
          <pc:sldMk cId="2102205496" sldId="1045"/>
        </pc:sldMkLst>
        <pc:spChg chg="mod">
          <ac:chgData name="Chodkowski, John (DHHS-Contractor)" userId="d81c4474-91f1-4931-91d7-ebb3e2df7470" providerId="ADAL" clId="{4C712B20-9B05-4CA2-903A-815D2FE0A4C1}" dt="2026-09-29T17:38:13.121" v="1880" actId="1076"/>
          <ac:spMkLst>
            <pc:docMk/>
            <pc:sldMk cId="2102205496" sldId="1045"/>
            <ac:spMk id="3" creationId="{A5D1A69B-670F-ED6C-48A2-86AC31DD5CD3}"/>
          </ac:spMkLst>
        </pc:spChg>
      </pc:sldChg>
      <pc:sldChg chg="modSp mod">
        <pc:chgData name="Chodkowski, John (DHHS-Contractor)" userId="d81c4474-91f1-4931-91d7-ebb3e2df7470" providerId="ADAL" clId="{4C712B20-9B05-4CA2-903A-815D2FE0A4C1}" dt="2026-09-28T22:12:07.956" v="1693" actId="20577"/>
        <pc:sldMkLst>
          <pc:docMk/>
          <pc:sldMk cId="178348177" sldId="1046"/>
        </pc:sldMkLst>
        <pc:spChg chg="mod">
          <ac:chgData name="Chodkowski, John (DHHS-Contractor)" userId="d81c4474-91f1-4931-91d7-ebb3e2df7470" providerId="ADAL" clId="{4C712B20-9B05-4CA2-903A-815D2FE0A4C1}" dt="2026-09-28T22:12:07.956" v="1693" actId="20577"/>
          <ac:spMkLst>
            <pc:docMk/>
            <pc:sldMk cId="178348177" sldId="1046"/>
            <ac:spMk id="7" creationId="{1EBBC699-8897-1A8E-8649-AE141FB7326D}"/>
          </ac:spMkLst>
        </pc:spChg>
        <pc:picChg chg="mod">
          <ac:chgData name="Chodkowski, John (DHHS-Contractor)" userId="d81c4474-91f1-4931-91d7-ebb3e2df7470" providerId="ADAL" clId="{4C712B20-9B05-4CA2-903A-815D2FE0A4C1}" dt="2026-09-28T21:52:23.932" v="866" actId="1076"/>
          <ac:picMkLst>
            <pc:docMk/>
            <pc:sldMk cId="178348177" sldId="1046"/>
            <ac:picMk id="5" creationId="{308AF977-EA52-2B91-6516-89635E31F905}"/>
          </ac:picMkLst>
        </pc:picChg>
      </pc:sldChg>
      <pc:sldChg chg="modSp mod">
        <pc:chgData name="Chodkowski, John (DHHS-Contractor)" userId="d81c4474-91f1-4931-91d7-ebb3e2df7470" providerId="ADAL" clId="{4C712B20-9B05-4CA2-903A-815D2FE0A4C1}" dt="2026-09-29T16:54:10.615" v="1698" actId="1076"/>
        <pc:sldMkLst>
          <pc:docMk/>
          <pc:sldMk cId="807197964" sldId="1048"/>
        </pc:sldMkLst>
        <pc:spChg chg="mod">
          <ac:chgData name="Chodkowski, John (DHHS-Contractor)" userId="d81c4474-91f1-4931-91d7-ebb3e2df7470" providerId="ADAL" clId="{4C712B20-9B05-4CA2-903A-815D2FE0A4C1}" dt="2026-09-29T16:54:10.615" v="1698" actId="1076"/>
          <ac:spMkLst>
            <pc:docMk/>
            <pc:sldMk cId="807197964" sldId="1048"/>
            <ac:spMk id="10" creationId="{D125B7CF-7225-C065-3419-D657963574DF}"/>
          </ac:spMkLst>
        </pc:spChg>
      </pc:sldChg>
      <pc:sldChg chg="addSp modSp mod">
        <pc:chgData name="Chodkowski, John (DHHS-Contractor)" userId="d81c4474-91f1-4931-91d7-ebb3e2df7470" providerId="ADAL" clId="{4C712B20-9B05-4CA2-903A-815D2FE0A4C1}" dt="2026-09-28T21:44:03.465" v="85" actId="1076"/>
        <pc:sldMkLst>
          <pc:docMk/>
          <pc:sldMk cId="3126723520" sldId="1060"/>
        </pc:sldMkLst>
        <pc:spChg chg="add mod">
          <ac:chgData name="Chodkowski, John (DHHS-Contractor)" userId="d81c4474-91f1-4931-91d7-ebb3e2df7470" providerId="ADAL" clId="{4C712B20-9B05-4CA2-903A-815D2FE0A4C1}" dt="2026-09-28T21:44:03.465" v="85" actId="1076"/>
          <ac:spMkLst>
            <pc:docMk/>
            <pc:sldMk cId="3126723520" sldId="1060"/>
            <ac:spMk id="4" creationId="{DFE48D2E-07A9-DC17-DFEC-F6DBF866290C}"/>
          </ac:spMkLst>
        </pc:spChg>
      </pc:sldChg>
      <pc:sldChg chg="addSp modSp mod">
        <pc:chgData name="Chodkowski, John (DHHS-Contractor)" userId="d81c4474-91f1-4931-91d7-ebb3e2df7470" providerId="ADAL" clId="{4C712B20-9B05-4CA2-903A-815D2FE0A4C1}" dt="2026-09-29T17:01:59.786" v="1879" actId="20577"/>
        <pc:sldMkLst>
          <pc:docMk/>
          <pc:sldMk cId="3612406110" sldId="1061"/>
        </pc:sldMkLst>
        <pc:spChg chg="mod">
          <ac:chgData name="Chodkowski, John (DHHS-Contractor)" userId="d81c4474-91f1-4931-91d7-ebb3e2df7470" providerId="ADAL" clId="{4C712B20-9B05-4CA2-903A-815D2FE0A4C1}" dt="2026-09-28T21:48:20.799" v="862" actId="1076"/>
          <ac:spMkLst>
            <pc:docMk/>
            <pc:sldMk cId="3612406110" sldId="1061"/>
            <ac:spMk id="2" creationId="{A868515C-EB30-3FE9-D0A9-C6959D234619}"/>
          </ac:spMkLst>
        </pc:spChg>
        <pc:spChg chg="add mod">
          <ac:chgData name="Chodkowski, John (DHHS-Contractor)" userId="d81c4474-91f1-4931-91d7-ebb3e2df7470" providerId="ADAL" clId="{4C712B20-9B05-4CA2-903A-815D2FE0A4C1}" dt="2026-09-29T17:01:59.786" v="1879" actId="20577"/>
          <ac:spMkLst>
            <pc:docMk/>
            <pc:sldMk cId="3612406110" sldId="1061"/>
            <ac:spMk id="4" creationId="{00670166-6564-51A5-1BD3-A4267F737E85}"/>
          </ac:spMkLst>
        </pc:spChg>
      </pc:sldChg>
      <pc:sldChg chg="modSp new mod">
        <pc:chgData name="Chodkowski, John (DHHS-Contractor)" userId="d81c4474-91f1-4931-91d7-ebb3e2df7470" providerId="ADAL" clId="{4C712B20-9B05-4CA2-903A-815D2FE0A4C1}" dt="2026-09-28T21:37:59.765" v="65" actId="20577"/>
        <pc:sldMkLst>
          <pc:docMk/>
          <pc:sldMk cId="978509603" sldId="1063"/>
        </pc:sldMkLst>
        <pc:spChg chg="mod">
          <ac:chgData name="Chodkowski, John (DHHS-Contractor)" userId="d81c4474-91f1-4931-91d7-ebb3e2df7470" providerId="ADAL" clId="{4C712B20-9B05-4CA2-903A-815D2FE0A4C1}" dt="2026-09-28T21:37:45.185" v="48" actId="20577"/>
          <ac:spMkLst>
            <pc:docMk/>
            <pc:sldMk cId="978509603" sldId="1063"/>
            <ac:spMk id="2" creationId="{91CFD556-18EA-A692-BE9B-6E03ADAE354A}"/>
          </ac:spMkLst>
        </pc:spChg>
        <pc:spChg chg="mod">
          <ac:chgData name="Chodkowski, John (DHHS-Contractor)" userId="d81c4474-91f1-4931-91d7-ebb3e2df7470" providerId="ADAL" clId="{4C712B20-9B05-4CA2-903A-815D2FE0A4C1}" dt="2026-09-28T21:37:59.765" v="65" actId="20577"/>
          <ac:spMkLst>
            <pc:docMk/>
            <pc:sldMk cId="978509603" sldId="1063"/>
            <ac:spMk id="3" creationId="{5B4E22F0-77BD-490A-D866-08E70646F8DF}"/>
          </ac:spMkLst>
        </pc:spChg>
      </pc:sldChg>
      <pc:sldChg chg="addSp delSp modSp add mod ord">
        <pc:chgData name="Chodkowski, John (DHHS-Contractor)" userId="d81c4474-91f1-4931-91d7-ebb3e2df7470" providerId="ADAL" clId="{4C712B20-9B05-4CA2-903A-815D2FE0A4C1}" dt="2026-09-29T17:47:42.824" v="1917" actId="14100"/>
        <pc:sldMkLst>
          <pc:docMk/>
          <pc:sldMk cId="2410662014" sldId="1074"/>
        </pc:sldMkLst>
        <pc:spChg chg="mod">
          <ac:chgData name="Chodkowski, John (DHHS-Contractor)" userId="d81c4474-91f1-4931-91d7-ebb3e2df7470" providerId="ADAL" clId="{4C712B20-9B05-4CA2-903A-815D2FE0A4C1}" dt="2026-09-28T22:06:54.214" v="1405" actId="1036"/>
          <ac:spMkLst>
            <pc:docMk/>
            <pc:sldMk cId="2410662014" sldId="1074"/>
            <ac:spMk id="5" creationId="{A1EF2659-F846-E214-AF20-8F1874CAAD4C}"/>
          </ac:spMkLst>
        </pc:spChg>
        <pc:spChg chg="mod">
          <ac:chgData name="Chodkowski, John (DHHS-Contractor)" userId="d81c4474-91f1-4931-91d7-ebb3e2df7470" providerId="ADAL" clId="{4C712B20-9B05-4CA2-903A-815D2FE0A4C1}" dt="2026-09-29T17:47:42.824" v="1917" actId="14100"/>
          <ac:spMkLst>
            <pc:docMk/>
            <pc:sldMk cId="2410662014" sldId="1074"/>
            <ac:spMk id="7" creationId="{CCF30F28-C4BD-5623-153D-E688F9240690}"/>
          </ac:spMkLst>
        </pc:spChg>
        <pc:spChg chg="add mod">
          <ac:chgData name="Chodkowski, John (DHHS-Contractor)" userId="d81c4474-91f1-4931-91d7-ebb3e2df7470" providerId="ADAL" clId="{4C712B20-9B05-4CA2-903A-815D2FE0A4C1}" dt="2026-09-29T17:47:31.574" v="1915" actId="14100"/>
          <ac:spMkLst>
            <pc:docMk/>
            <pc:sldMk cId="2410662014" sldId="1074"/>
            <ac:spMk id="8" creationId="{DDA056F5-B605-9128-82B2-5C2CB6615A9B}"/>
          </ac:spMkLst>
        </pc:spChg>
        <pc:spChg chg="add">
          <ac:chgData name="Chodkowski, John (DHHS-Contractor)" userId="d81c4474-91f1-4931-91d7-ebb3e2df7470" providerId="ADAL" clId="{4C712B20-9B05-4CA2-903A-815D2FE0A4C1}" dt="2026-09-28T22:10:00.067" v="1619" actId="22"/>
          <ac:spMkLst>
            <pc:docMk/>
            <pc:sldMk cId="2410662014" sldId="1074"/>
            <ac:spMk id="15" creationId="{3B96C0DF-6FB7-9406-BF26-3E70E8A98E5C}"/>
          </ac:spMkLst>
        </pc:spChg>
        <pc:spChg chg="add mod">
          <ac:chgData name="Chodkowski, John (DHHS-Contractor)" userId="d81c4474-91f1-4931-91d7-ebb3e2df7470" providerId="ADAL" clId="{4C712B20-9B05-4CA2-903A-815D2FE0A4C1}" dt="2026-09-28T22:10:25" v="1631" actId="1076"/>
          <ac:spMkLst>
            <pc:docMk/>
            <pc:sldMk cId="2410662014" sldId="1074"/>
            <ac:spMk id="17" creationId="{B9FA2F9D-B60A-81D3-DD88-673A7C893607}"/>
          </ac:spMkLst>
        </pc:spChg>
        <pc:picChg chg="mod">
          <ac:chgData name="Chodkowski, John (DHHS-Contractor)" userId="d81c4474-91f1-4931-91d7-ebb3e2df7470" providerId="ADAL" clId="{4C712B20-9B05-4CA2-903A-815D2FE0A4C1}" dt="2026-09-28T22:06:54.214" v="1405" actId="1036"/>
          <ac:picMkLst>
            <pc:docMk/>
            <pc:sldMk cId="2410662014" sldId="1074"/>
            <ac:picMk id="4" creationId="{19A9F749-5C48-6097-8D1E-8C1972A07D8F}"/>
          </ac:picMkLst>
        </pc:picChg>
        <pc:picChg chg="mod">
          <ac:chgData name="Chodkowski, John (DHHS-Contractor)" userId="d81c4474-91f1-4931-91d7-ebb3e2df7470" providerId="ADAL" clId="{4C712B20-9B05-4CA2-903A-815D2FE0A4C1}" dt="2026-09-28T22:06:54.214" v="1405" actId="1036"/>
          <ac:picMkLst>
            <pc:docMk/>
            <pc:sldMk cId="2410662014" sldId="1074"/>
            <ac:picMk id="6" creationId="{92AE3FEF-27D3-D3A0-8B40-F1B249DAE6D9}"/>
          </ac:picMkLst>
        </pc:picChg>
      </pc:sldChg>
      <pc:sldChg chg="modSp new mod">
        <pc:chgData name="Chodkowski, John (DHHS-Contractor)" userId="d81c4474-91f1-4931-91d7-ebb3e2df7470" providerId="ADAL" clId="{4C712B20-9B05-4CA2-903A-815D2FE0A4C1}" dt="2026-09-29T17:47:00.176" v="1911" actId="20577"/>
        <pc:sldMkLst>
          <pc:docMk/>
          <pc:sldMk cId="1699473970" sldId="1075"/>
        </pc:sldMkLst>
        <pc:spChg chg="mod">
          <ac:chgData name="Chodkowski, John (DHHS-Contractor)" userId="d81c4474-91f1-4931-91d7-ebb3e2df7470" providerId="ADAL" clId="{4C712B20-9B05-4CA2-903A-815D2FE0A4C1}" dt="2026-09-29T17:47:00.176" v="1911" actId="20577"/>
          <ac:spMkLst>
            <pc:docMk/>
            <pc:sldMk cId="1699473970" sldId="1075"/>
            <ac:spMk id="2" creationId="{80AA6190-2863-7649-99B4-729A1248E44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FCFD3-B3C9-4B7A-BA5D-35314F32C5A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83342-CDC2-439A-9858-4597886C5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1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44A77-0BFD-4406-8797-EC1CD18DD1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69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98329-E028-47DD-BEEA-AD4C89B27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142AE-0E4C-4DCF-9F91-208ECE7FA7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5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F912-F99B-23A1-8666-1DE68B92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168BA-5A26-CC2D-B9FA-3D2309AA6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0884D-835B-F053-9683-D0A77D49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34E28-5312-6F52-47E1-A5DFA6F21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D85D8-F3C5-E2BA-96B0-6D8AE508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9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E53C-7BE0-4F8F-A8FD-35DAE64C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3D3-53DD-77F5-8659-996878517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A7BB-ACCD-9BE3-7DF9-AF12D907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36CE8-C5E9-2FCD-8B42-DCDAE8FB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7CDB-688A-9805-0B6A-3DE95FC1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3441-F7DD-E5DC-15E0-C2D1A064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2ADBD-BCEB-397E-7660-F54C4BC96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B4F8-D690-1ED2-B946-02BC81F1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040B6-4BF8-8B34-3012-B9CAB8AB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F445-E4E8-22E5-0F47-950DCF3B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3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6D24-7EF3-8F7E-8CC0-6B9D9DF4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CAB5-F0BC-7ED9-8DCD-AA921EA4E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BCF82-FA9D-DD22-A903-D630A4703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395B6-3BEC-7229-8BD0-239E8A5B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19C26-91E6-7A33-EE84-EE33EC0F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05134-D428-8981-6CC7-01AEE35E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8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54AA-42B0-A3DE-675D-B190FB63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5D5EA-E97B-4F7C-3B21-04352E36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7E342-7C3D-DA41-D9D5-5D0A7C8FE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C01C5-2BE0-61D8-D265-C2271649A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3F74E-366E-DB8B-A739-1A2C2C1BD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4A7AF-65BA-3B56-9873-56182A56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49DF5-BD7F-CC88-4F55-92C61C70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EE5C7-400F-C39E-F306-266A966A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5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3636-9E87-7602-85A3-78A1084A3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3F8DD-53DF-FBA0-CB93-C2CA2D2F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81A7E-D90E-9A62-46CF-3FF65916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C6AB6-FBD3-167E-2CF6-953252E7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1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254F1-575A-DFE0-7BFC-BF04C1AF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DE5B1-47E5-C5AE-F328-7111FF1C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B3E4B-2A47-6F97-C128-3B6F15C8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3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30C7-73FF-BEA3-792E-DE0329D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09C9C-B7E0-3534-5C72-51A84ED6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660C4-172E-EED0-B819-251BAFCA3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86F68-674A-F124-F1C6-8D3B157E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C8B44-5D1A-E3F0-0B6A-8A46B0186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6BE41-D696-0B2C-7C9A-025712FC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0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900E-67DF-763F-838A-8DAE3E85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4E3CA-F156-5A31-A6C8-61252FAA9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B2B29-FEBF-E78A-4C96-6366B9A7A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81CA9-1505-6A64-939D-9C174F73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6BA48-9D1F-38DB-A5D2-C790964B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4BAE-C72A-82E5-D6E9-A0E24951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3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C274-700B-9F4E-7256-269D563C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6DC6F-EDC6-F17B-F25C-3268876D3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D3A7-EC2F-2D40-13A3-9F900B28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28DE-5D55-A4D0-76EB-C851E096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3712A-2E3E-AAFC-8543-D1FFC96A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6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398A2-B1D5-0C44-D4FD-0E36ADA5F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92546-A5FC-81F3-9383-07361BA10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D6F1-DF3D-AFF1-E25F-0F0EF22E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0D50-BB87-87BE-AA91-681C15DE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D223B-38AB-1FC1-6324-57674D35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6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D1C3E-D1EF-68F9-FDFE-74FE9883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CE9D8-5A70-EEC5-836D-90479FD94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878AE-6C10-E890-D048-8D01F14CF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4774D-1255-4EEB-9FFC-D1395BE33CA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FF51-4E04-42A5-25A4-6F6B5B0D1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0F70-C66C-E5A9-9540-86E18E332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C3F1A-78F2-4C62-9A32-0DD62ADB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2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xtflow.io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xtflow.io/index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ateeshperi.github.io/nextflow_varcal/nextflow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580F-D138-955D-9248-D68312183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6064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Reproducible</a:t>
            </a:r>
            <a:br>
              <a:rPr lang="en-US" dirty="0"/>
            </a:br>
            <a:r>
              <a:rPr lang="en-US" dirty="0"/>
              <a:t>Scalable, parallelism, </a:t>
            </a:r>
            <a:br>
              <a:rPr lang="en-US" dirty="0"/>
            </a:br>
            <a:r>
              <a:rPr lang="en-US" dirty="0" err="1"/>
              <a:t>Nextflow</a:t>
            </a:r>
            <a:r>
              <a:rPr lang="en-US" dirty="0"/>
              <a:t> is the way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913CA-1353-1193-ACD4-9162120CA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8229"/>
            <a:ext cx="9144000" cy="1655762"/>
          </a:xfrm>
        </p:spPr>
        <p:txBody>
          <a:bodyPr/>
          <a:lstStyle/>
          <a:p>
            <a:r>
              <a:rPr lang="en-US" dirty="0"/>
              <a:t>John Chodkowski</a:t>
            </a:r>
          </a:p>
          <a:p>
            <a:r>
              <a:rPr lang="en-US" dirty="0" err="1"/>
              <a:t>Nextflow</a:t>
            </a:r>
            <a:r>
              <a:rPr lang="en-US" dirty="0"/>
              <a:t> breakout session </a:t>
            </a:r>
          </a:p>
          <a:p>
            <a:r>
              <a:rPr lang="en-US" dirty="0"/>
              <a:t>10/20/2026</a:t>
            </a:r>
          </a:p>
        </p:txBody>
      </p:sp>
    </p:spTree>
    <p:extLst>
      <p:ext uri="{BB962C8B-B14F-4D97-AF65-F5344CB8AC3E}">
        <p14:creationId xmlns:p14="http://schemas.microsoft.com/office/powerpoint/2010/main" val="197665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51DF-3E40-A417-03BF-92950AB7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Nextflow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09844-DD1B-D4A7-DAC9-2A3C579BB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 workflow management software for building bioinformatics pipelines.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Nextflow</a:t>
            </a:r>
            <a:r>
              <a:rPr lang="en-US" dirty="0"/>
              <a:t> is a domain specific language (DSL) implemented on top of the Groovy programming language, which in turn is a super-set of the Java programming language.”</a:t>
            </a:r>
          </a:p>
          <a:p>
            <a:pPr lvl="1"/>
            <a:r>
              <a:rPr lang="en-US" dirty="0"/>
              <a:t>Easy-to-write data-intensive computational workflows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Nextflow</a:t>
            </a:r>
            <a:r>
              <a:rPr lang="en-US" dirty="0"/>
              <a:t> enables scalable and reproducible scientific workflows using software containers. It allows the adaptation of pipelines written in the most common scripting languages.”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A4819-A0E8-F6F5-FBE8-70D7E76B967C}"/>
              </a:ext>
            </a:extLst>
          </p:cNvPr>
          <p:cNvSpPr txBox="1"/>
          <p:nvPr/>
        </p:nvSpPr>
        <p:spPr>
          <a:xfrm>
            <a:off x="1089349" y="630820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https://www.nextflow.io/index.html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213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DDB8C026-82BF-F64D-3AF5-4BC6285315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89"/>
          <a:stretch/>
        </p:blipFill>
        <p:spPr>
          <a:xfrm>
            <a:off x="383208" y="278333"/>
            <a:ext cx="10724126" cy="5402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DECCF4-2262-7F3D-9146-8BAE668DA114}"/>
              </a:ext>
            </a:extLst>
          </p:cNvPr>
          <p:cNvSpPr txBox="1"/>
          <p:nvPr/>
        </p:nvSpPr>
        <p:spPr>
          <a:xfrm>
            <a:off x="8115300" y="6536695"/>
            <a:ext cx="3871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https://sateeshperi.github.io/nextflow_varcal/nextflow/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21456-CAAD-7787-3D7A-6E431502E74C}"/>
              </a:ext>
            </a:extLst>
          </p:cNvPr>
          <p:cNvSpPr txBox="1"/>
          <p:nvPr/>
        </p:nvSpPr>
        <p:spPr>
          <a:xfrm>
            <a:off x="0" y="642897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https://www.nextflow.io/index.html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D74C7-8AE7-3861-DAD3-C4899FF070FF}"/>
              </a:ext>
            </a:extLst>
          </p:cNvPr>
          <p:cNvSpPr txBox="1"/>
          <p:nvPr/>
        </p:nvSpPr>
        <p:spPr>
          <a:xfrm>
            <a:off x="2307427" y="5902956"/>
            <a:ext cx="8317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workflow management software for building bioinformatics pipelines.</a:t>
            </a:r>
          </a:p>
        </p:txBody>
      </p:sp>
    </p:spTree>
    <p:extLst>
      <p:ext uri="{BB962C8B-B14F-4D97-AF65-F5344CB8AC3E}">
        <p14:creationId xmlns:p14="http://schemas.microsoft.com/office/powerpoint/2010/main" val="223732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6CB8-ADCE-8263-92AF-DDFE28CB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pipelines are built with processes, channels, and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18DDF-332D-F877-13D2-E1FD948E4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90688"/>
            <a:ext cx="9144000" cy="4714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83CFF-5E57-40AE-F08E-BA53E34210AC}"/>
              </a:ext>
            </a:extLst>
          </p:cNvPr>
          <p:cNvSpPr txBox="1"/>
          <p:nvPr/>
        </p:nvSpPr>
        <p:spPr>
          <a:xfrm>
            <a:off x="5427406" y="5388077"/>
            <a:ext cx="53994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Processes: individually packaged bioinformatic tools</a:t>
            </a:r>
          </a:p>
          <a:p>
            <a:r>
              <a:rPr lang="en-US" dirty="0"/>
              <a:t>Channels: data conduits</a:t>
            </a:r>
          </a:p>
          <a:p>
            <a:r>
              <a:rPr lang="en-US" dirty="0"/>
              <a:t>Operators: transform channels</a:t>
            </a:r>
          </a:p>
        </p:txBody>
      </p:sp>
    </p:spTree>
    <p:extLst>
      <p:ext uri="{BB962C8B-B14F-4D97-AF65-F5344CB8AC3E}">
        <p14:creationId xmlns:p14="http://schemas.microsoft.com/office/powerpoint/2010/main" val="181740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66F3-66B3-403C-7963-4F11E5FD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406096"/>
            <a:ext cx="10515600" cy="1325563"/>
          </a:xfrm>
        </p:spPr>
        <p:txBody>
          <a:bodyPr/>
          <a:lstStyle/>
          <a:p>
            <a:r>
              <a:rPr lang="en-US" dirty="0" err="1"/>
              <a:t>Nextflowify</a:t>
            </a:r>
            <a:r>
              <a:rPr lang="en-US" dirty="0"/>
              <a:t> and let your pipeline thrive </a:t>
            </a:r>
          </a:p>
        </p:txBody>
      </p:sp>
      <p:pic>
        <p:nvPicPr>
          <p:cNvPr id="5" name="Picture 4" descr="A picture containing graphical user interface&#10;&#10;AI-generated content may be incorrect.">
            <a:extLst>
              <a:ext uri="{FF2B5EF4-FFF2-40B4-BE49-F238E27FC236}">
                <a16:creationId xmlns:a16="http://schemas.microsoft.com/office/drawing/2014/main" id="{F17657AD-B229-74E9-7425-EEBCA5F5C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7" r="30484" b="47438"/>
          <a:stretch>
            <a:fillRect/>
          </a:stretch>
        </p:blipFill>
        <p:spPr>
          <a:xfrm>
            <a:off x="2077475" y="1930399"/>
            <a:ext cx="6620593" cy="1993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9010D2-30EF-72CB-3C87-048A3B8A45F2}"/>
              </a:ext>
            </a:extLst>
          </p:cNvPr>
          <p:cNvSpPr txBox="1"/>
          <p:nvPr/>
        </p:nvSpPr>
        <p:spPr>
          <a:xfrm>
            <a:off x="26440" y="6586841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Adapted from: </a:t>
            </a:r>
            <a:r>
              <a:rPr lang="en-US" sz="900" dirty="0">
                <a:hlinkClick r:id="rId4"/>
              </a:rPr>
              <a:t>source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51FC1-730C-BF57-13D9-8E8C7FCCD99B}"/>
              </a:ext>
            </a:extLst>
          </p:cNvPr>
          <p:cNvSpPr/>
          <p:nvPr/>
        </p:nvSpPr>
        <p:spPr>
          <a:xfrm>
            <a:off x="2007640" y="4394200"/>
            <a:ext cx="2002536" cy="126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A</a:t>
            </a:r>
            <a:br>
              <a:rPr lang="en-US" dirty="0"/>
            </a:br>
            <a:r>
              <a:rPr lang="en-US" dirty="0"/>
              <a:t>Coding: R</a:t>
            </a:r>
          </a:p>
          <a:p>
            <a:pPr algn="ctr"/>
            <a:r>
              <a:rPr lang="en-US" dirty="0"/>
              <a:t>Container: Tool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CDD075-7EA5-669B-4821-692BEF2F89E7}"/>
              </a:ext>
            </a:extLst>
          </p:cNvPr>
          <p:cNvSpPr/>
          <p:nvPr/>
        </p:nvSpPr>
        <p:spPr>
          <a:xfrm>
            <a:off x="9791700" y="4398772"/>
            <a:ext cx="2006600" cy="12573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C</a:t>
            </a:r>
            <a:br>
              <a:rPr lang="en-US" dirty="0"/>
            </a:br>
            <a:r>
              <a:rPr lang="en-US" dirty="0"/>
              <a:t>Coding: Python</a:t>
            </a:r>
          </a:p>
          <a:p>
            <a:pPr algn="ctr"/>
            <a:r>
              <a:rPr lang="en-US" dirty="0"/>
              <a:t>Container: Tool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4DE99A-DCCC-ED87-CB4B-0B0D82B9A822}"/>
              </a:ext>
            </a:extLst>
          </p:cNvPr>
          <p:cNvSpPr/>
          <p:nvPr/>
        </p:nvSpPr>
        <p:spPr>
          <a:xfrm>
            <a:off x="5897637" y="4412367"/>
            <a:ext cx="2006600" cy="12573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B</a:t>
            </a:r>
            <a:br>
              <a:rPr lang="en-US" dirty="0"/>
            </a:br>
            <a:r>
              <a:rPr lang="en-US" dirty="0"/>
              <a:t>Coding: BASH</a:t>
            </a:r>
          </a:p>
          <a:p>
            <a:pPr algn="ctr"/>
            <a:r>
              <a:rPr lang="en-US" dirty="0"/>
              <a:t>Container: Tool 2</a:t>
            </a:r>
          </a:p>
        </p:txBody>
      </p:sp>
      <p:pic>
        <p:nvPicPr>
          <p:cNvPr id="11" name="Picture 10" descr="A picture containing graphical user interface&#10;&#10;AI-generated content may be incorrect.">
            <a:extLst>
              <a:ext uri="{FF2B5EF4-FFF2-40B4-BE49-F238E27FC236}">
                <a16:creationId xmlns:a16="http://schemas.microsoft.com/office/drawing/2014/main" id="{94815A3E-D7DC-8597-CC81-49DD39AC9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3" t="22876" r="51188" b="49652"/>
          <a:stretch>
            <a:fillRect/>
          </a:stretch>
        </p:blipFill>
        <p:spPr>
          <a:xfrm>
            <a:off x="2973093" y="2277506"/>
            <a:ext cx="2006600" cy="14874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410C8D1-5C80-78F2-B185-463EDE5133D4}"/>
              </a:ext>
            </a:extLst>
          </p:cNvPr>
          <p:cNvSpPr/>
          <p:nvPr/>
        </p:nvSpPr>
        <p:spPr>
          <a:xfrm>
            <a:off x="4857602" y="2358469"/>
            <a:ext cx="1829974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icture containing graphical user interface&#10;&#10;AI-generated content may be incorrect.">
            <a:extLst>
              <a:ext uri="{FF2B5EF4-FFF2-40B4-BE49-F238E27FC236}">
                <a16:creationId xmlns:a16="http://schemas.microsoft.com/office/drawing/2014/main" id="{E7F1C92C-8DF2-43A7-69B4-C7BE9F744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7" t="22876" r="76584" b="49652"/>
          <a:stretch>
            <a:fillRect/>
          </a:stretch>
        </p:blipFill>
        <p:spPr>
          <a:xfrm>
            <a:off x="5372539" y="2323544"/>
            <a:ext cx="1315037" cy="148748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1A66DF2-98CC-93D7-AC79-3ADDBF2C9A37}"/>
              </a:ext>
            </a:extLst>
          </p:cNvPr>
          <p:cNvSpPr/>
          <p:nvPr/>
        </p:nvSpPr>
        <p:spPr>
          <a:xfrm>
            <a:off x="4191001" y="4516629"/>
            <a:ext cx="1487086" cy="1139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466833-D7D6-6C36-2165-AD8E68C6A3F6}"/>
              </a:ext>
            </a:extLst>
          </p:cNvPr>
          <p:cNvSpPr/>
          <p:nvPr/>
        </p:nvSpPr>
        <p:spPr>
          <a:xfrm rot="5400000">
            <a:off x="4842870" y="4817913"/>
            <a:ext cx="1097352" cy="53737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BFEC90D-7C42-B8EB-6896-8B317F362C1D}"/>
              </a:ext>
            </a:extLst>
          </p:cNvPr>
          <p:cNvSpPr/>
          <p:nvPr/>
        </p:nvSpPr>
        <p:spPr>
          <a:xfrm>
            <a:off x="339730" y="4471295"/>
            <a:ext cx="1448359" cy="1139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 A</a:t>
            </a:r>
          </a:p>
          <a:p>
            <a:pPr algn="ctr"/>
            <a:r>
              <a:rPr lang="en-US" dirty="0"/>
              <a:t>(FASTQ)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AA61D5-20BC-B844-704C-0272C4F3E00E}"/>
              </a:ext>
            </a:extLst>
          </p:cNvPr>
          <p:cNvSpPr txBox="1"/>
          <p:nvPr/>
        </p:nvSpPr>
        <p:spPr>
          <a:xfrm>
            <a:off x="4109243" y="4907956"/>
            <a:ext cx="10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 A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13A3640-6F0E-26DA-33E8-9FFD4E2F8E14}"/>
              </a:ext>
            </a:extLst>
          </p:cNvPr>
          <p:cNvSpPr/>
          <p:nvPr/>
        </p:nvSpPr>
        <p:spPr>
          <a:xfrm>
            <a:off x="8205545" y="4516628"/>
            <a:ext cx="1487086" cy="113944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D12D358-5B99-793E-497B-4436C3A7F6D3}"/>
              </a:ext>
            </a:extLst>
          </p:cNvPr>
          <p:cNvSpPr/>
          <p:nvPr/>
        </p:nvSpPr>
        <p:spPr>
          <a:xfrm rot="5400000">
            <a:off x="8857414" y="4817912"/>
            <a:ext cx="1097352" cy="537370"/>
          </a:xfrm>
          <a:prstGeom prst="triangl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90165-4DC4-E2B5-0F89-2AFC2EA45DD5}"/>
              </a:ext>
            </a:extLst>
          </p:cNvPr>
          <p:cNvSpPr txBox="1"/>
          <p:nvPr/>
        </p:nvSpPr>
        <p:spPr>
          <a:xfrm>
            <a:off x="8122482" y="4907956"/>
            <a:ext cx="10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 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932DC4-B4D3-B777-DB7F-024C11E6EAEF}"/>
              </a:ext>
            </a:extLst>
          </p:cNvPr>
          <p:cNvSpPr/>
          <p:nvPr/>
        </p:nvSpPr>
        <p:spPr>
          <a:xfrm>
            <a:off x="3025296" y="2393394"/>
            <a:ext cx="2006600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CC0DF-8091-C993-5AD4-2F6416200D6B}"/>
              </a:ext>
            </a:extLst>
          </p:cNvPr>
          <p:cNvSpPr/>
          <p:nvPr/>
        </p:nvSpPr>
        <p:spPr>
          <a:xfrm>
            <a:off x="5239776" y="2393393"/>
            <a:ext cx="2006600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5FDFC5-07AE-01CB-7586-615EA4496291}"/>
              </a:ext>
            </a:extLst>
          </p:cNvPr>
          <p:cNvSpPr/>
          <p:nvPr/>
        </p:nvSpPr>
        <p:spPr>
          <a:xfrm>
            <a:off x="7396901" y="2358470"/>
            <a:ext cx="1315037" cy="1360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230516-9713-5781-65FB-4995A4DF9B4F}"/>
              </a:ext>
            </a:extLst>
          </p:cNvPr>
          <p:cNvSpPr/>
          <p:nvPr/>
        </p:nvSpPr>
        <p:spPr>
          <a:xfrm>
            <a:off x="2517225" y="4922044"/>
            <a:ext cx="1009406" cy="22621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11FA24-B1A6-5960-7AB6-A46A5D96E71D}"/>
              </a:ext>
            </a:extLst>
          </p:cNvPr>
          <p:cNvSpPr/>
          <p:nvPr/>
        </p:nvSpPr>
        <p:spPr>
          <a:xfrm>
            <a:off x="2067191" y="5146635"/>
            <a:ext cx="1822502" cy="334745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4B7DD1-FC89-D318-C1AC-BEF3E0F3BF9B}"/>
              </a:ext>
            </a:extLst>
          </p:cNvPr>
          <p:cNvSpPr/>
          <p:nvPr/>
        </p:nvSpPr>
        <p:spPr>
          <a:xfrm>
            <a:off x="5961538" y="5197891"/>
            <a:ext cx="1791811" cy="2554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F64F40-A9D1-1366-4E2D-9ADA89CC2D81}"/>
              </a:ext>
            </a:extLst>
          </p:cNvPr>
          <p:cNvSpPr/>
          <p:nvPr/>
        </p:nvSpPr>
        <p:spPr>
          <a:xfrm>
            <a:off x="6212009" y="4922044"/>
            <a:ext cx="1396085" cy="2758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1226CA-9B32-F546-3BDA-2CFC2AA476BB}"/>
              </a:ext>
            </a:extLst>
          </p:cNvPr>
          <p:cNvSpPr/>
          <p:nvPr/>
        </p:nvSpPr>
        <p:spPr>
          <a:xfrm>
            <a:off x="9957715" y="4914522"/>
            <a:ext cx="1667548" cy="275847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D24263-7297-9AF2-7224-FF6DE3A34389}"/>
              </a:ext>
            </a:extLst>
          </p:cNvPr>
          <p:cNvSpPr/>
          <p:nvPr/>
        </p:nvSpPr>
        <p:spPr>
          <a:xfrm>
            <a:off x="9894689" y="5197891"/>
            <a:ext cx="1730573" cy="275847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graphical user interface&#10;&#10;AI-generated content may be incorrect.">
            <a:extLst>
              <a:ext uri="{FF2B5EF4-FFF2-40B4-BE49-F238E27FC236}">
                <a16:creationId xmlns:a16="http://schemas.microsoft.com/office/drawing/2014/main" id="{36EADA57-15D3-6CDB-E69C-47E42163A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14" t="15737" b="47438"/>
          <a:stretch>
            <a:fillRect/>
          </a:stretch>
        </p:blipFill>
        <p:spPr>
          <a:xfrm>
            <a:off x="8631128" y="1931311"/>
            <a:ext cx="684343" cy="1993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6A1CC-E77E-EE6C-0D7E-B485106C805E}"/>
              </a:ext>
            </a:extLst>
          </p:cNvPr>
          <p:cNvSpPr txBox="1"/>
          <p:nvPr/>
        </p:nvSpPr>
        <p:spPr>
          <a:xfrm rot="16200000">
            <a:off x="4806728" y="4772583"/>
            <a:ext cx="1087438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 B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65F2D-3198-ED46-78D3-4A124084282F}"/>
              </a:ext>
            </a:extLst>
          </p:cNvPr>
          <p:cNvSpPr txBox="1"/>
          <p:nvPr/>
        </p:nvSpPr>
        <p:spPr>
          <a:xfrm rot="16200000">
            <a:off x="8834885" y="4769457"/>
            <a:ext cx="1087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 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9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 animBg="1"/>
      <p:bldP spid="20" grpId="0" animBg="1"/>
      <p:bldP spid="17" grpId="0" animBg="1"/>
      <p:bldP spid="22" grpId="0"/>
      <p:bldP spid="23" grpId="0" animBg="1"/>
      <p:bldP spid="24" grpId="0" animBg="1"/>
      <p:bldP spid="25" grpId="0"/>
      <p:bldP spid="28" grpId="0" animBg="1"/>
      <p:bldP spid="29" grpId="0" animBg="1"/>
      <p:bldP spid="30" grpId="0" animBg="1"/>
      <p:bldP spid="32" grpId="0" animBg="1"/>
      <p:bldP spid="32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4638-11FA-5B90-9E68-61508DE9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task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C8EA1-7501-B978-E5AA-3214224F5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770" y="1526306"/>
            <a:ext cx="7910321" cy="4134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9E47DB-816B-F245-F65D-BED568A1310D}"/>
              </a:ext>
            </a:extLst>
          </p:cNvPr>
          <p:cNvSpPr txBox="1"/>
          <p:nvPr/>
        </p:nvSpPr>
        <p:spPr>
          <a:xfrm>
            <a:off x="838200" y="4633233"/>
            <a:ext cx="6094324" cy="69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13" b="0" i="0" dirty="0">
                <a:solidFill>
                  <a:srgbClr val="333333"/>
                </a:solidFill>
                <a:effectLst/>
                <a:latin typeface="Helvetica Neue"/>
              </a:rPr>
              <a:t>Note: Imagine that data x, y and z are </a:t>
            </a:r>
            <a:r>
              <a:rPr lang="en-US" sz="1313" b="0" i="0" dirty="0" err="1">
                <a:solidFill>
                  <a:srgbClr val="333333"/>
                </a:solidFill>
                <a:effectLst/>
                <a:latin typeface="Helvetica Neue"/>
              </a:rPr>
              <a:t>fastq</a:t>
            </a:r>
            <a:r>
              <a:rPr lang="en-US" sz="1313" b="0" i="0" dirty="0">
                <a:solidFill>
                  <a:srgbClr val="333333"/>
                </a:solidFill>
                <a:effectLst/>
                <a:latin typeface="Helvetica Neue"/>
              </a:rPr>
              <a:t> files from separate samples. The channel feeds the data into one process. All 3 samples can be simultaneously analyzed at the same time (assuming enough computational resources)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5B7CF-7225-C065-3419-D657963574DF}"/>
              </a:ext>
            </a:extLst>
          </p:cNvPr>
          <p:cNvSpPr txBox="1"/>
          <p:nvPr/>
        </p:nvSpPr>
        <p:spPr>
          <a:xfrm>
            <a:off x="1210909" y="2557493"/>
            <a:ext cx="6094324" cy="29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13" b="1" dirty="0">
                <a:solidFill>
                  <a:srgbClr val="333333"/>
                </a:solidFill>
                <a:latin typeface="Helvetica Neue"/>
              </a:rPr>
              <a:t>H</a:t>
            </a:r>
            <a:r>
              <a:rPr lang="en-US" sz="1313" b="1" i="0" dirty="0">
                <a:solidFill>
                  <a:srgbClr val="333333"/>
                </a:solidFill>
                <a:effectLst/>
                <a:latin typeface="Helvetica Neue"/>
              </a:rPr>
              <a:t>andled automatically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719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3D72-1B7D-05B8-7013-B917B219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24" y="266701"/>
            <a:ext cx="10515600" cy="1325563"/>
          </a:xfrm>
        </p:spPr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A69B-670F-ED6C-48A2-86AC31DD5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264"/>
            <a:ext cx="10515600" cy="47656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Portable</a:t>
            </a:r>
          </a:p>
          <a:p>
            <a:pPr lvl="1"/>
            <a:r>
              <a:rPr lang="en-US" dirty="0"/>
              <a:t>Works on HPC or Cloud</a:t>
            </a:r>
          </a:p>
          <a:p>
            <a:r>
              <a:rPr lang="en-US" dirty="0"/>
              <a:t>Scalable</a:t>
            </a:r>
          </a:p>
          <a:p>
            <a:pPr lvl="1"/>
            <a:r>
              <a:rPr lang="en-US" dirty="0"/>
              <a:t>Resource allocation is defined</a:t>
            </a:r>
          </a:p>
          <a:p>
            <a:r>
              <a:rPr lang="en-US" dirty="0"/>
              <a:t>Reproducible</a:t>
            </a:r>
          </a:p>
          <a:p>
            <a:pPr lvl="1"/>
            <a:r>
              <a:rPr lang="en-US" dirty="0"/>
              <a:t>Containers</a:t>
            </a:r>
          </a:p>
          <a:p>
            <a:r>
              <a:rPr lang="en-US" dirty="0"/>
              <a:t>Data provenance</a:t>
            </a:r>
          </a:p>
          <a:p>
            <a:pPr lvl="1"/>
            <a:r>
              <a:rPr lang="en-US" dirty="0"/>
              <a:t>Complete history of runs</a:t>
            </a:r>
          </a:p>
          <a:p>
            <a:pPr lvl="2"/>
            <a:r>
              <a:rPr lang="en-US" dirty="0"/>
              <a:t>Files, configs, task executions, etc.</a:t>
            </a:r>
          </a:p>
          <a:p>
            <a:r>
              <a:rPr lang="en-US" dirty="0"/>
              <a:t>Pipeline checkpoints</a:t>
            </a:r>
          </a:p>
          <a:p>
            <a:pPr lvl="1"/>
            <a:r>
              <a:rPr lang="en-US" dirty="0"/>
              <a:t>Work directory and resume feature</a:t>
            </a:r>
          </a:p>
          <a:p>
            <a:r>
              <a:rPr lang="en-US" dirty="0"/>
              <a:t>Automatic parallelization of task handling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0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0BFB-253F-37B1-1B0E-E5236225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" y="128588"/>
            <a:ext cx="11749088" cy="1171576"/>
          </a:xfrm>
        </p:spPr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nextflow</a:t>
            </a:r>
            <a:r>
              <a:rPr lang="en-US" dirty="0"/>
              <a:t> pipeline organizational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F20A-A9EA-3856-18CD-9CDA2B729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52" y="1145608"/>
            <a:ext cx="10905931" cy="5257800"/>
          </a:xfrm>
        </p:spPr>
        <p:txBody>
          <a:bodyPr>
            <a:noAutofit/>
          </a:bodyPr>
          <a:lstStyle/>
          <a:p>
            <a:r>
              <a:rPr lang="en-US" sz="1200" dirty="0"/>
              <a:t>main.nf</a:t>
            </a:r>
          </a:p>
          <a:p>
            <a:pPr lvl="1"/>
            <a:r>
              <a:rPr lang="en-US" sz="1200" dirty="0"/>
              <a:t>Invoke the workflow of your choice</a:t>
            </a:r>
          </a:p>
          <a:p>
            <a:pPr lvl="1"/>
            <a:r>
              <a:rPr lang="en-US" sz="1200" dirty="0"/>
              <a:t>required in order for the </a:t>
            </a:r>
            <a:r>
              <a:rPr lang="en-US" sz="1200" dirty="0" err="1"/>
              <a:t>nextflow</a:t>
            </a:r>
            <a:r>
              <a:rPr lang="en-US" sz="1200" dirty="0"/>
              <a:t> run command to function</a:t>
            </a:r>
          </a:p>
          <a:p>
            <a:r>
              <a:rPr lang="en-US" sz="1200" dirty="0"/>
              <a:t>workflows directory</a:t>
            </a:r>
          </a:p>
          <a:p>
            <a:pPr lvl="1"/>
            <a:r>
              <a:rPr lang="en-US" sz="1200" dirty="0"/>
              <a:t>Storage of workflows</a:t>
            </a:r>
          </a:p>
          <a:p>
            <a:pPr lvl="1"/>
            <a:r>
              <a:rPr lang="en-US" sz="1200" dirty="0"/>
              <a:t>A full analysis pipeline is written within each workflows/name_of_workflow.nf</a:t>
            </a:r>
          </a:p>
          <a:p>
            <a:r>
              <a:rPr lang="en-US" sz="1200" dirty="0" err="1"/>
              <a:t>subworkflows</a:t>
            </a:r>
            <a:r>
              <a:rPr lang="en-US" sz="1200" dirty="0"/>
              <a:t> directory</a:t>
            </a:r>
          </a:p>
          <a:p>
            <a:pPr lvl="1"/>
            <a:r>
              <a:rPr lang="en-US" sz="1200" dirty="0"/>
              <a:t>A “mini-workflow” containing a chain of multiple modules</a:t>
            </a:r>
          </a:p>
          <a:p>
            <a:r>
              <a:rPr lang="en-US" sz="1200" dirty="0"/>
              <a:t>modules directory</a:t>
            </a:r>
          </a:p>
          <a:p>
            <a:pPr lvl="1"/>
            <a:r>
              <a:rPr lang="en-US" sz="1200" dirty="0"/>
              <a:t>Split into local and </a:t>
            </a:r>
            <a:r>
              <a:rPr lang="en-US" sz="1200" dirty="0" err="1"/>
              <a:t>nf</a:t>
            </a:r>
            <a:r>
              <a:rPr lang="en-US" sz="1200" dirty="0"/>
              <a:t>-core directories</a:t>
            </a:r>
          </a:p>
          <a:p>
            <a:pPr lvl="1"/>
            <a:r>
              <a:rPr lang="en-US" sz="1200" dirty="0"/>
              <a:t>Bioinformatics tools are stored here</a:t>
            </a:r>
          </a:p>
          <a:p>
            <a:pPr lvl="1"/>
            <a:r>
              <a:rPr lang="en-US" sz="1200" dirty="0"/>
              <a:t>Scripts here define the process</a:t>
            </a:r>
          </a:p>
          <a:p>
            <a:r>
              <a:rPr lang="en-US" sz="1200" dirty="0" err="1"/>
              <a:t>nextflow.config</a:t>
            </a:r>
            <a:endParaRPr lang="en-US" sz="1200" dirty="0"/>
          </a:p>
          <a:p>
            <a:pPr lvl="1"/>
            <a:r>
              <a:rPr lang="en-US" sz="1200" dirty="0"/>
              <a:t>Global configuration parameters to be used in all workflows</a:t>
            </a:r>
          </a:p>
          <a:p>
            <a:pPr lvl="1"/>
            <a:r>
              <a:rPr lang="en-US" sz="1200" dirty="0"/>
              <a:t>E.g. paths of reference files that will be used in multiple workflows</a:t>
            </a:r>
          </a:p>
          <a:p>
            <a:r>
              <a:rPr lang="en-US" sz="1200" dirty="0"/>
              <a:t>conf directory</a:t>
            </a:r>
          </a:p>
          <a:p>
            <a:pPr lvl="1"/>
            <a:r>
              <a:rPr lang="en-US" sz="1200" dirty="0" err="1"/>
              <a:t>base.config</a:t>
            </a:r>
            <a:r>
              <a:rPr lang="en-US" sz="1200" dirty="0"/>
              <a:t>: Computing resources specifications</a:t>
            </a:r>
          </a:p>
          <a:p>
            <a:pPr lvl="1"/>
            <a:r>
              <a:rPr lang="en-US" sz="1200" dirty="0" err="1"/>
              <a:t>modules.config</a:t>
            </a:r>
            <a:r>
              <a:rPr lang="en-US" sz="1200" dirty="0"/>
              <a:t>: Parameters for modules of interest</a:t>
            </a:r>
          </a:p>
          <a:p>
            <a:r>
              <a:rPr lang="en-US" sz="1200" dirty="0"/>
              <a:t>assets</a:t>
            </a:r>
          </a:p>
          <a:p>
            <a:pPr lvl="1"/>
            <a:r>
              <a:rPr lang="en-US" sz="1200" dirty="0"/>
              <a:t>Storage of reference files and databases</a:t>
            </a:r>
          </a:p>
          <a:p>
            <a:r>
              <a:rPr lang="en-US" sz="1200" dirty="0"/>
              <a:t>bin directory</a:t>
            </a:r>
          </a:p>
          <a:p>
            <a:pPr lvl="1"/>
            <a:r>
              <a:rPr lang="en-US" sz="1200" dirty="0"/>
              <a:t>Storage of custom scripts</a:t>
            </a:r>
          </a:p>
          <a:p>
            <a:pPr lvl="1"/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lvl="1"/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273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D96B-9AD7-6531-4AB9-813510C4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5" y="2475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GitHub </a:t>
            </a:r>
            <a:r>
              <a:rPr lang="en-US" dirty="0" err="1"/>
              <a:t>Codespace</a:t>
            </a:r>
            <a:r>
              <a:rPr lang="en-US" dirty="0"/>
              <a:t> will provide all of us the same environment to build our </a:t>
            </a:r>
            <a:r>
              <a:rPr lang="en-US" dirty="0" err="1"/>
              <a:t>nextflow</a:t>
            </a:r>
            <a:r>
              <a:rPr lang="en-US" dirty="0"/>
              <a:t>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7C5CA-27D0-C1FD-CEA4-99F520853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756"/>
            <a:ext cx="10515600" cy="48406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virtual </a:t>
            </a:r>
            <a:r>
              <a:rPr lang="en-US" dirty="0" err="1"/>
              <a:t>linux</a:t>
            </a:r>
            <a:r>
              <a:rPr lang="en-US" dirty="0"/>
              <a:t> environment hosted within a docker container hosted by GitHub</a:t>
            </a:r>
          </a:p>
          <a:p>
            <a:r>
              <a:rPr lang="en-US" dirty="0"/>
              <a:t>Users can start their own </a:t>
            </a:r>
            <a:r>
              <a:rPr lang="en-US" dirty="0" err="1"/>
              <a:t>codespace</a:t>
            </a:r>
            <a:r>
              <a:rPr lang="en-US" dirty="0"/>
              <a:t> from any available GitHub repo</a:t>
            </a:r>
          </a:p>
          <a:p>
            <a:pPr lvl="1"/>
            <a:r>
              <a:rPr lang="en-US" dirty="0"/>
              <a:t>Provides a compute environment</a:t>
            </a:r>
          </a:p>
          <a:p>
            <a:pPr lvl="1"/>
            <a:r>
              <a:rPr lang="en-US" dirty="0"/>
              <a:t>Provides VS code editor </a:t>
            </a:r>
          </a:p>
          <a:p>
            <a:r>
              <a:rPr lang="en-US" dirty="0"/>
              <a:t>At minimum, the GitHub repo needs a .</a:t>
            </a:r>
            <a:r>
              <a:rPr lang="en-US" dirty="0" err="1"/>
              <a:t>devcontainer</a:t>
            </a:r>
            <a:r>
              <a:rPr lang="en-US" dirty="0"/>
              <a:t> folder and within:</a:t>
            </a:r>
          </a:p>
          <a:p>
            <a:pPr lvl="1"/>
            <a:r>
              <a:rPr lang="en-US" dirty="0" err="1"/>
              <a:t>devcontainer.json</a:t>
            </a:r>
            <a:endParaRPr lang="en-US" dirty="0"/>
          </a:p>
          <a:p>
            <a:pPr lvl="2"/>
            <a:r>
              <a:rPr lang="en-US" dirty="0"/>
              <a:t>Customize VS code workspace</a:t>
            </a:r>
          </a:p>
          <a:p>
            <a:pPr lvl="1"/>
            <a:r>
              <a:rPr lang="en-US" dirty="0" err="1"/>
              <a:t>Dockerfile</a:t>
            </a:r>
            <a:endParaRPr lang="en-US" dirty="0"/>
          </a:p>
          <a:p>
            <a:pPr lvl="2"/>
            <a:r>
              <a:rPr lang="en-US" dirty="0"/>
              <a:t>Install tools of interest</a:t>
            </a:r>
          </a:p>
          <a:p>
            <a:pPr marL="4572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871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B1F07-8C23-53D5-E185-D5DA4560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490" y="1024932"/>
            <a:ext cx="8859019" cy="427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4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D7F9-E9D2-1295-5CF7-0B79C575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273919"/>
            <a:ext cx="11228438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Nextflow</a:t>
            </a:r>
            <a:r>
              <a:rPr lang="en-US" sz="3600" dirty="0"/>
              <a:t> is the software. </a:t>
            </a:r>
            <a:r>
              <a:rPr lang="en-US" sz="3600" dirty="0" err="1"/>
              <a:t>nf</a:t>
            </a:r>
            <a:r>
              <a:rPr lang="en-US" sz="3600" dirty="0"/>
              <a:t>-core is the global community collaborating to build standardized pipelines available to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30CF-4923-0F96-B111-4050FCEC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720"/>
            <a:ext cx="10515600" cy="3890963"/>
          </a:xfrm>
        </p:spPr>
        <p:txBody>
          <a:bodyPr/>
          <a:lstStyle/>
          <a:p>
            <a:r>
              <a:rPr lang="en-US" dirty="0" err="1"/>
              <a:t>nf</a:t>
            </a:r>
            <a:r>
              <a:rPr lang="en-US" dirty="0"/>
              <a:t>-core tools</a:t>
            </a:r>
          </a:p>
          <a:p>
            <a:pPr lvl="1"/>
            <a:r>
              <a:rPr lang="en-US" dirty="0"/>
              <a:t>A CLI to build and obtain </a:t>
            </a:r>
            <a:r>
              <a:rPr lang="en-US" dirty="0" err="1"/>
              <a:t>nextflow</a:t>
            </a:r>
            <a:r>
              <a:rPr lang="en-US" dirty="0"/>
              <a:t> pipelines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B1D0C-7DDF-A133-AC84-7D7BCE37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2790723"/>
            <a:ext cx="5370710" cy="3220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B8CB3-FC21-354E-4AE4-DCF884028A62}"/>
              </a:ext>
            </a:extLst>
          </p:cNvPr>
          <p:cNvSpPr txBox="1"/>
          <p:nvPr/>
        </p:nvSpPr>
        <p:spPr>
          <a:xfrm>
            <a:off x="3549444" y="6107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https://nf-co.re/docs/nf-core-tools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9767B-84CE-F242-83D3-37C8AD078080}"/>
              </a:ext>
            </a:extLst>
          </p:cNvPr>
          <p:cNvSpPr txBox="1"/>
          <p:nvPr/>
        </p:nvSpPr>
        <p:spPr>
          <a:xfrm>
            <a:off x="1327355" y="6107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https://nf-co.re/</a:t>
            </a:r>
          </a:p>
        </p:txBody>
      </p:sp>
    </p:spTree>
    <p:extLst>
      <p:ext uri="{BB962C8B-B14F-4D97-AF65-F5344CB8AC3E}">
        <p14:creationId xmlns:p14="http://schemas.microsoft.com/office/powerpoint/2010/main" val="110045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AF977-EA52-2B91-6516-89635E31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4" y="315960"/>
            <a:ext cx="11209991" cy="6226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7C1091-BBA6-5181-4791-58F1DC7E3737}"/>
              </a:ext>
            </a:extLst>
          </p:cNvPr>
          <p:cNvSpPr txBox="1"/>
          <p:nvPr/>
        </p:nvSpPr>
        <p:spPr>
          <a:xfrm>
            <a:off x="589935" y="1661651"/>
            <a:ext cx="3441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Various </a:t>
            </a:r>
            <a:r>
              <a:rPr lang="en-US" dirty="0" err="1"/>
              <a:t>nextflow</a:t>
            </a:r>
            <a:r>
              <a:rPr lang="en-US" dirty="0"/>
              <a:t> pipelines are already available and built by the CDC and SPHL community (and </a:t>
            </a:r>
            <a:r>
              <a:rPr lang="en-US" dirty="0" err="1"/>
              <a:t>nf</a:t>
            </a:r>
            <a:r>
              <a:rPr lang="en-US" dirty="0"/>
              <a:t>-core)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BC699-8897-1A8E-8649-AE141FB7326D}"/>
              </a:ext>
            </a:extLst>
          </p:cNvPr>
          <p:cNvSpPr txBox="1"/>
          <p:nvPr/>
        </p:nvSpPr>
        <p:spPr>
          <a:xfrm>
            <a:off x="589935" y="3126657"/>
            <a:ext cx="2792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always recommend checking if a pipeline for your analysis needs is already available</a:t>
            </a:r>
          </a:p>
        </p:txBody>
      </p:sp>
    </p:spTree>
    <p:extLst>
      <p:ext uri="{BB962C8B-B14F-4D97-AF65-F5344CB8AC3E}">
        <p14:creationId xmlns:p14="http://schemas.microsoft.com/office/powerpoint/2010/main" val="17834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FC54-EA81-204D-9EBE-5CD87BBC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started!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27A7-CE80-CDF9-8F86-25DB03F9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groups</a:t>
            </a:r>
          </a:p>
          <a:p>
            <a:r>
              <a:rPr lang="en-US" dirty="0"/>
              <a:t>Walkthrough the tutorial in groups </a:t>
            </a:r>
          </a:p>
          <a:p>
            <a:r>
              <a:rPr lang="en-US" dirty="0"/>
              <a:t>There are two challenges</a:t>
            </a:r>
          </a:p>
          <a:p>
            <a:pPr lvl="1"/>
            <a:r>
              <a:rPr lang="en-US" dirty="0"/>
              <a:t>We’ll come back together to go over these challenges</a:t>
            </a:r>
          </a:p>
        </p:txBody>
      </p:sp>
    </p:spTree>
    <p:extLst>
      <p:ext uri="{BB962C8B-B14F-4D97-AF65-F5344CB8AC3E}">
        <p14:creationId xmlns:p14="http://schemas.microsoft.com/office/powerpoint/2010/main" val="19848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616</Words>
  <Application>Microsoft Office PowerPoint</Application>
  <PresentationFormat>Widescreen</PresentationFormat>
  <Paragraphs>101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Helvetica Neue</vt:lpstr>
      <vt:lpstr>Office Theme</vt:lpstr>
      <vt:lpstr> Reproducible Scalable, parallelism,  Nextflow is the way </vt:lpstr>
      <vt:lpstr>What is Nextflow?</vt:lpstr>
      <vt:lpstr>PowerPoint Presentation</vt:lpstr>
      <vt:lpstr>Nextflow pipelines are built with processes, channels, and operators</vt:lpstr>
      <vt:lpstr>Nextflowify and let your pipeline thrive </vt:lpstr>
      <vt:lpstr>Parallel task execution</vt:lpstr>
      <vt:lpstr>Nextflow benefits</vt:lpstr>
      <vt:lpstr>Common nextflow pipeline organizational structure</vt:lpstr>
      <vt:lpstr>GitHub Codespace will provide all of us the same environment to build our nextflow pipeline</vt:lpstr>
      <vt:lpstr>PowerPoint Presentation</vt:lpstr>
      <vt:lpstr>Nextflow is the software. nf-core is the global community collaborating to build standardized pipelines available to all</vt:lpstr>
      <vt:lpstr>PowerPoint Presentation</vt:lpstr>
      <vt:lpstr>Let’s get started!</vt:lpstr>
    </vt:vector>
  </TitlesOfParts>
  <Company>State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Chodkowski, John (DHHS-Contractor)</dc:creator>
  <cp:lastModifiedBy>Chodkowski, John (DHHS-Contractor)</cp:lastModifiedBy>
  <cp:revision>3</cp:revision>
  <dcterms:created xsi:type="dcterms:W3CDTF">2026-09-28T20:41:41Z</dcterms:created>
  <dcterms:modified xsi:type="dcterms:W3CDTF">2026-10-20T19:36:15Z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2fed65-62e7-46ea-af74-187e0c17143a_Enabled">
    <vt:lpwstr>true</vt:lpwstr>
  </property>
  <property fmtid="{D5CDD505-2E9C-101B-9397-08002B2CF9AE}" pid="3" name="MSIP_Label_3a2fed65-62e7-46ea-af74-187e0c17143a_SetDate">
    <vt:lpwstr>2026-09-28T21:31:22Z</vt:lpwstr>
  </property>
  <property fmtid="{D5CDD505-2E9C-101B-9397-08002B2CF9AE}" pid="4" name="MSIP_Label_3a2fed65-62e7-46ea-af74-187e0c17143a_Method">
    <vt:lpwstr>Privileged</vt:lpwstr>
  </property>
  <property fmtid="{D5CDD505-2E9C-101B-9397-08002B2CF9AE}" pid="5" name="MSIP_Label_3a2fed65-62e7-46ea-af74-187e0c17143a_Name">
    <vt:lpwstr>3a2fed65-62e7-46ea-af74-187e0c17143a</vt:lpwstr>
  </property>
  <property fmtid="{D5CDD505-2E9C-101B-9397-08002B2CF9AE}" pid="6" name="MSIP_Label_3a2fed65-62e7-46ea-af74-187e0c17143a_SiteId">
    <vt:lpwstr>d5fb7087-3777-42ad-966a-892ef47225d1</vt:lpwstr>
  </property>
  <property fmtid="{D5CDD505-2E9C-101B-9397-08002B2CF9AE}" pid="7" name="MSIP_Label_3a2fed65-62e7-46ea-af74-187e0c17143a_ActionId">
    <vt:lpwstr>7f513422-1653-4c13-9fb3-07aea6cd1dd4</vt:lpwstr>
  </property>
  <property fmtid="{D5CDD505-2E9C-101B-9397-08002B2CF9AE}" pid="8" name="MSIP_Label_3a2fed65-62e7-46ea-af74-187e0c17143a_ContentBits">
    <vt:lpwstr>0</vt:lpwstr>
  </property>
  <property fmtid="{D5CDD505-2E9C-101B-9397-08002B2CF9AE}" pid="9" name="MSIP_Label_3a2fed65-62e7-46ea-af74-187e0c17143a_Tag">
    <vt:lpwstr>10, 0, 1, 1</vt:lpwstr>
  </property>
</Properties>
</file>